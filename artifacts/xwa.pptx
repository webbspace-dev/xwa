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84" r:id="rId4"/>
  </p:sldMasterIdLst>
  <p:sldIdLst>
    <p:sldId id="269" r:id="rId5"/>
    <p:sldId id="256" r:id="rId6"/>
    <p:sldId id="286" r:id="rId7"/>
    <p:sldId id="277" r:id="rId8"/>
    <p:sldId id="283" r:id="rId9"/>
    <p:sldId id="289" r:id="rId10"/>
    <p:sldId id="291" r:id="rId11"/>
    <p:sldId id="293" r:id="rId12"/>
    <p:sldId id="290" r:id="rId13"/>
    <p:sldId id="292" r:id="rId14"/>
    <p:sldId id="285" r:id="rId15"/>
    <p:sldId id="268" r:id="rId16"/>
    <p:sldId id="28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288" userDrawn="1">
          <p15:clr>
            <a:srgbClr val="A4A3A4"/>
          </p15:clr>
        </p15:guide>
        <p15:guide id="4" pos="5472" userDrawn="1">
          <p15:clr>
            <a:srgbClr val="A4A3A4"/>
          </p15:clr>
        </p15:guide>
        <p15:guide id="5" orient="horz" pos="288" userDrawn="1">
          <p15:clr>
            <a:srgbClr val="A4A3A4"/>
          </p15:clr>
        </p15:guide>
        <p15:guide id="6" orient="horz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howGuides="1">
      <p:cViewPr varScale="1">
        <p:scale>
          <a:sx n="104" d="100"/>
          <a:sy n="104" d="100"/>
        </p:scale>
        <p:origin x="1170" y="102"/>
      </p:cViewPr>
      <p:guideLst>
        <p:guide orient="horz" pos="2160"/>
        <p:guide pos="2880"/>
        <p:guide pos="288"/>
        <p:guide pos="5472"/>
        <p:guide orient="horz" pos="288"/>
        <p:guide orient="horz"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6DACB8-024B-E2B3-CB16-1126BB6FD76F}"/>
              </a:ext>
            </a:extLst>
          </p:cNvPr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6C50D7-5399-399E-9829-D22A2E9F32E1}"/>
              </a:ext>
            </a:extLst>
          </p:cNvPr>
          <p:cNvCxnSpPr/>
          <p:nvPr userDrawn="1"/>
        </p:nvCxnSpPr>
        <p:spPr>
          <a:xfrm>
            <a:off x="0" y="457200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CA95FEE-A691-D6B4-3801-E8DE492A4730}"/>
              </a:ext>
            </a:extLst>
          </p:cNvPr>
          <p:cNvSpPr txBox="1"/>
          <p:nvPr userDrawn="1"/>
        </p:nvSpPr>
        <p:spPr>
          <a:xfrm>
            <a:off x="457200" y="6400800"/>
            <a:ext cx="8229600" cy="45719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100" dirty="0">
                <a:solidFill>
                  <a:schemeClr val="tx1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</a:rPr>
              <a:t>Release 1.0.0.45834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157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22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83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3js.org/what-is-d3" TargetMode="External"/><Relationship Id="rId2" Type="http://schemas.openxmlformats.org/officeDocument/2006/relationships/hyperlink" Target="https://www.reddit.com/user/mbostock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164D2BD-DC1E-4EF4-9ACC-D5AF614B0D42}"/>
              </a:ext>
            </a:extLst>
          </p:cNvPr>
          <p:cNvSpPr txBox="1">
            <a:spLocks/>
          </p:cNvSpPr>
          <p:nvPr/>
        </p:nvSpPr>
        <p:spPr>
          <a:xfrm>
            <a:off x="3142678" y="3181350"/>
            <a:ext cx="2858647" cy="4953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2000" dirty="0" err="1">
                <a:latin typeface="OCR A Extended" panose="02010509020102010303" pitchFamily="50" charset="0"/>
              </a:rPr>
              <a:t>beginning_of_file</a:t>
            </a:r>
            <a:endParaRPr lang="en-US" sz="2000" dirty="0">
              <a:latin typeface="OCR A Extended" panose="020105090201020103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193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B0CDABA-0123-669B-7FE6-783C59FD8C71}"/>
              </a:ext>
            </a:extLst>
          </p:cNvPr>
          <p:cNvSpPr txBox="1">
            <a:spLocks/>
          </p:cNvSpPr>
          <p:nvPr/>
        </p:nvSpPr>
        <p:spPr>
          <a:xfrm>
            <a:off x="457200" y="457203"/>
            <a:ext cx="8229600" cy="594359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2400"/>
              </a:spcBef>
              <a:buNone/>
            </a:pPr>
            <a:r>
              <a:rPr lang="en-US" sz="2400" dirty="0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X-Wing Advisor (XWA)</a:t>
            </a:r>
          </a:p>
        </p:txBody>
      </p:sp>
      <p:pic>
        <p:nvPicPr>
          <p:cNvPr id="3" name="Picture 2" descr="Diagram&#10;&#10;AI-generated content may be incorrect.">
            <a:extLst>
              <a:ext uri="{FF2B5EF4-FFF2-40B4-BE49-F238E27FC236}">
                <a16:creationId xmlns:a16="http://schemas.microsoft.com/office/drawing/2014/main" id="{BD765131-0725-9A64-056F-AD92FD5B2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142859" y="1128602"/>
            <a:ext cx="4858282" cy="522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5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C98FC-566D-A60A-8DA6-325019A7CF5B}"/>
              </a:ext>
            </a:extLst>
          </p:cNvPr>
          <p:cNvSpPr txBox="1">
            <a:spLocks/>
          </p:cNvSpPr>
          <p:nvPr/>
        </p:nvSpPr>
        <p:spPr>
          <a:xfrm>
            <a:off x="457200" y="457201"/>
            <a:ext cx="8229600" cy="5943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XWA</a:t>
            </a:r>
            <a:r>
              <a:rPr lang="en-US" sz="2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The Requirements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Demonstrate responsive UI design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Demonstrate the value of data visualizations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Demonstrate best-practice information assurance and security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Demonstrate Minimal API architecture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Demonstrate test harness in the orchestration layer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Architect the solution with the lightest deployment footprint</a:t>
            </a:r>
          </a:p>
        </p:txBody>
      </p:sp>
    </p:spTree>
    <p:extLst>
      <p:ext uri="{BB962C8B-B14F-4D97-AF65-F5344CB8AC3E}">
        <p14:creationId xmlns:p14="http://schemas.microsoft.com/office/powerpoint/2010/main" val="3572740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C98FC-566D-A60A-8DA6-325019A7CF5B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59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XWA</a:t>
            </a:r>
            <a:r>
              <a:rPr lang="en-US" sz="2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Architecture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.NET 8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Modular Monolith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XWA.UI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XWA.WebAPI</a:t>
            </a:r>
            <a:endParaRPr lang="en-US" sz="2000" b="1" dirty="0">
              <a:solidFill>
                <a:srgbClr val="C00000"/>
              </a:solidFill>
              <a:latin typeface="Consolas" panose="020B0609020204030204" pitchFamily="49" charset="0"/>
              <a:cs typeface="Cascadia Mono SemiLight" panose="020B0609020000020004" pitchFamily="49" charset="0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XWA.Core</a:t>
            </a:r>
            <a:endParaRPr lang="en-US" sz="2000" b="1" dirty="0">
              <a:solidFill>
                <a:srgbClr val="C00000"/>
              </a:solidFill>
              <a:latin typeface="Consolas" panose="020B0609020204030204" pitchFamily="49" charset="0"/>
              <a:cs typeface="Cascadia Mono SemiLight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HTML 5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Minimal API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AngularJS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responsive user experience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D3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(“Data-Driven Documents”)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Open‑source JavaScript data visualization library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Written by Mike Bostock (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  <a:hlinkClick r:id="rId2"/>
              </a:rPr>
              <a:t>u/</a:t>
            </a:r>
            <a:r>
              <a:rPr lang="en-US" sz="2000" dirty="0" err="1">
                <a:latin typeface="Cascadia Mono SemiLight" panose="020B0609020000020004" pitchFamily="49" charset="0"/>
                <a:cs typeface="Cascadia Mono SemiLight" panose="020B0609020000020004" pitchFamily="49" charset="0"/>
                <a:hlinkClick r:id="rId2"/>
              </a:rPr>
              <a:t>mbostock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  <a:hlinkClick r:id="rId3"/>
              </a:rPr>
              <a:t>https://d3js.org/what-is-d3</a:t>
            </a:r>
            <a:endParaRPr lang="en-US" sz="20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421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C98FC-566D-A60A-8DA6-325019A7CF5B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59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XWA.UI</a:t>
            </a:r>
            <a:r>
              <a:rPr lang="en-US" sz="2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The Presentation Layer Project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C#</a:t>
            </a:r>
          </a:p>
          <a:p>
            <a:pPr marL="684213" lvl="2">
              <a:lnSpc>
                <a:spcPct val="100000"/>
              </a:lnSpc>
              <a:spcBef>
                <a:spcPts val="1200"/>
              </a:spcBef>
            </a:pP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Program.cs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The application launch mechanism</a:t>
            </a:r>
          </a:p>
          <a:p>
            <a:pPr marL="684213" lvl="2">
              <a:lnSpc>
                <a:spcPct val="100000"/>
              </a:lnSpc>
              <a:spcBef>
                <a:spcPts val="1200"/>
              </a:spcBef>
            </a:pP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UserRequest.cs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The model class for user for authentication</a:t>
            </a:r>
          </a:p>
          <a:p>
            <a:pPr marL="684213" lvl="2">
              <a:lnSpc>
                <a:spcPct val="100000"/>
              </a:lnSpc>
              <a:spcBef>
                <a:spcPts val="1200"/>
              </a:spcBef>
            </a:pP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SessionFactory.cs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The model class for persisting the user, the JWT Bearer token, and application version information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HTML5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Files are located under 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wwwroot</a:t>
            </a:r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/app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Launched via 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Program.cs</a:t>
            </a:r>
            <a:endParaRPr lang="en-US" sz="2000" b="1" dirty="0">
              <a:solidFill>
                <a:srgbClr val="C00000"/>
              </a:solidFill>
              <a:latin typeface="Consolas" panose="020B0609020204030204" pitchFamily="49" charset="0"/>
              <a:cs typeface="Cascadia Mono SemiLight" panose="020B0609020000020004" pitchFamily="49" charset="0"/>
            </a:endParaRP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WebApplication.UseDefaultFiles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()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WebApplication.UseStaticFiles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3550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41402-ADEB-AB68-AD9B-1F02C151F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FAF995-4E97-B501-A968-685B309BDAC2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59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 err="1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XWA.WebAPI</a:t>
            </a:r>
            <a:r>
              <a:rPr lang="en-US" sz="2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The Orchestration Layer Project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Classes are organized under the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Features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folder, according to their use-case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Controller classes are replaced with endpoint classes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IEndpointRouteBuilder.MapGet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(“feature/code”)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Endpoints get wired up using dependency injection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Dependency injection gets wired up via the 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ServiceCollection</a:t>
            </a:r>
            <a:endParaRPr lang="en-US" sz="2000" b="1" dirty="0">
              <a:solidFill>
                <a:srgbClr val="C00000"/>
              </a:solidFill>
              <a:latin typeface="Consolas" panose="020B0609020204030204" pitchFamily="49" charset="0"/>
              <a:cs typeface="Cascadia Mono SemiLight" panose="020B0609020000020004" pitchFamily="49" charset="0"/>
            </a:endParaRP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IHostApplicationBuilder.Services.AddScoped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&lt;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IGumby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, Gumby&gt;()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DTO model classes are replaced with </a:t>
            </a:r>
            <a:r>
              <a:rPr lang="en-US" sz="2000" b="1" dirty="0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Request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and </a:t>
            </a:r>
            <a:r>
              <a:rPr lang="en-US" sz="2000" b="1" dirty="0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Response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model classes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Classes do not adhere to a strict CQRS (Command Query Responsibility Segregation) pattern</a:t>
            </a:r>
          </a:p>
        </p:txBody>
      </p:sp>
    </p:spTree>
    <p:extLst>
      <p:ext uri="{BB962C8B-B14F-4D97-AF65-F5344CB8AC3E}">
        <p14:creationId xmlns:p14="http://schemas.microsoft.com/office/powerpoint/2010/main" val="110264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0A930-AD51-4FC9-8B5C-F2F94E6D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EA5A53-5A1F-0A1E-92DF-E4AE59858958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59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 err="1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XWA.WebAPI</a:t>
            </a:r>
            <a:r>
              <a:rPr lang="en-US" sz="2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The Orchestration Layer Project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ServiceExtension.cs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wires up most critical functionality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CORS (Cross-Origin Resource Sharing) gate-keeping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DbContext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where applicable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JWT Bearer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TokenProvider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ascadia Mono SemiLight" panose="020B0609020000020004" pitchFamily="49" charset="0"/>
            </a:endParaRP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Options pattern functionality for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appsettings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configuration items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Validators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Exception handlers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Swashbuckle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Swagger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test harness and documentation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Authorization hook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Authentication hook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589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A05B3-9764-327B-2E51-AC3A41D3D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C27604-863A-C23C-1FE0-5BA02EC42393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59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 err="1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XWA.WebAPI</a:t>
            </a:r>
            <a:r>
              <a:rPr lang="en-US" sz="2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The Orchestration Layer Project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Program.cs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adds the critical functionality wired up from 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ServiceExtension.cs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to the application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CORS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Routing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Authorization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Authentication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HTTP redirection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Swagger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availability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Exception handling</a:t>
            </a:r>
          </a:p>
          <a:p>
            <a:pPr marL="685800" lvl="2">
              <a:lnSpc>
                <a:spcPct val="100000"/>
              </a:lnSpc>
              <a:spcBef>
                <a:spcPts val="1200"/>
              </a:spcBef>
            </a:pP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Endpoint mapping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809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CEDB4-85BA-B218-85F8-962840E4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C89FCB-E975-8553-3267-AA1D03624A14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59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 err="1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XWA.Core</a:t>
            </a:r>
            <a:r>
              <a:rPr lang="en-US" sz="2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The Shared Library Project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Contains app-specific helper classes, constants classes, and utility classes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Cuts across all domain boundaries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Very lightweight</a:t>
            </a:r>
          </a:p>
        </p:txBody>
      </p:sp>
    </p:spTree>
    <p:extLst>
      <p:ext uri="{BB962C8B-B14F-4D97-AF65-F5344CB8AC3E}">
        <p14:creationId xmlns:p14="http://schemas.microsoft.com/office/powerpoint/2010/main" val="274714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571B0-2C87-37EE-8B66-4F45A03EE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778A14-6EDE-4B85-948C-E2241C0C326F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59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XWA</a:t>
            </a:r>
            <a:r>
              <a:rPr lang="en-US" sz="2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The (Missing) Database Project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Data is read from CSV files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CSV files use 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FileSystemObject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(FSO) .NET routines in the 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CsvHelper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NuGet package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The path location to the CSV files is stored in the 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appsettings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JSON file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Since reading 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ascadia Mono SemiLight" panose="020B0609020000020004" pitchFamily="49" charset="0"/>
              </a:rPr>
              <a:t>appsetting</a:t>
            </a: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JSON files is non-performant, the Options pattern is used when the application launches, making configuration settings available through dependency injection throughout the life of the application</a:t>
            </a:r>
          </a:p>
          <a:p>
            <a:pPr marL="228600" lvl="1"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Since reading CSV files is non-performant, data is read in the optimal order to minimize negative performance impacts</a:t>
            </a:r>
          </a:p>
        </p:txBody>
      </p:sp>
    </p:spTree>
    <p:extLst>
      <p:ext uri="{BB962C8B-B14F-4D97-AF65-F5344CB8AC3E}">
        <p14:creationId xmlns:p14="http://schemas.microsoft.com/office/powerpoint/2010/main" val="891741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C98FC-566D-A60A-8DA6-325019A7CF5B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594359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XWA</a:t>
            </a:r>
            <a:r>
              <a:rPr lang="en-US" sz="2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JWT Bearer Token Functionality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13FF629-D557-5190-101A-E1D46E1CBC82}"/>
              </a:ext>
            </a:extLst>
          </p:cNvPr>
          <p:cNvSpPr txBox="1">
            <a:spLocks/>
          </p:cNvSpPr>
          <p:nvPr/>
        </p:nvSpPr>
        <p:spPr>
          <a:xfrm>
            <a:off x="3618354" y="3181350"/>
            <a:ext cx="1907295" cy="4953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latin typeface="OCR A Extended" panose="02010509020102010303" pitchFamily="50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72603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39A66C5D-571E-D7B5-4A54-D625E3578A6A}"/>
              </a:ext>
            </a:extLst>
          </p:cNvPr>
          <p:cNvSpPr txBox="1">
            <a:spLocks/>
          </p:cNvSpPr>
          <p:nvPr/>
        </p:nvSpPr>
        <p:spPr>
          <a:xfrm>
            <a:off x="457200" y="457201"/>
            <a:ext cx="8229600" cy="5943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rgbClr val="C0000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XWA</a:t>
            </a:r>
            <a:r>
              <a:rPr lang="en-US" sz="2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 Wrap–Up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3A4B522-C365-D4C4-B46E-9716105AB04B}"/>
              </a:ext>
            </a:extLst>
          </p:cNvPr>
          <p:cNvSpPr txBox="1">
            <a:spLocks/>
          </p:cNvSpPr>
          <p:nvPr/>
        </p:nvSpPr>
        <p:spPr>
          <a:xfrm>
            <a:off x="3618354" y="3181350"/>
            <a:ext cx="1907295" cy="4953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latin typeface="OCR A Extended" panose="02010509020102010303" pitchFamily="50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18762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164D2BD-DC1E-4EF4-9ACC-D5AF614B0D42}"/>
              </a:ext>
            </a:extLst>
          </p:cNvPr>
          <p:cNvSpPr txBox="1">
            <a:spLocks/>
          </p:cNvSpPr>
          <p:nvPr/>
        </p:nvSpPr>
        <p:spPr>
          <a:xfrm>
            <a:off x="3618354" y="3181350"/>
            <a:ext cx="1907295" cy="4953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sz="2000" dirty="0" err="1">
                <a:latin typeface="OCR A Extended" panose="02010509020102010303" pitchFamily="50" charset="0"/>
              </a:rPr>
              <a:t>end_of_file</a:t>
            </a:r>
            <a:endParaRPr lang="en-US" sz="2000" dirty="0">
              <a:latin typeface="OCR A Extended" panose="020105090201020103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8736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88cfc1ee-ce68-4e19-92ee-1cac5e82bb07" xsi:nil="true"/>
    <FolderDescription xmlns="dfa3dd06-845f-4d9d-ad43-dffb0e0431f4" xsi:nil="true"/>
    <_ip_UnifiedCompliancePolicyProperties xmlns="http://schemas.microsoft.com/sharepoint/v3" xsi:nil="true"/>
    <lcf76f155ced4ddcb4097134ff3c332f xmlns="dfa3dd06-845f-4d9d-ad43-dffb0e0431f4">
      <Terms xmlns="http://schemas.microsoft.com/office/infopath/2007/PartnerControls"/>
    </lcf76f155ced4ddcb4097134ff3c332f>
    <Notes xmlns="dfa3dd06-845f-4d9d-ad43-dffb0e0431f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7430A4B2EF8C4CA3AD840C0842242D" ma:contentTypeVersion="19" ma:contentTypeDescription="Create a new document." ma:contentTypeScope="" ma:versionID="d24a2517d1ae75694858e92ebacc0c37">
  <xsd:schema xmlns:xsd="http://www.w3.org/2001/XMLSchema" xmlns:xs="http://www.w3.org/2001/XMLSchema" xmlns:p="http://schemas.microsoft.com/office/2006/metadata/properties" xmlns:ns1="http://schemas.microsoft.com/sharepoint/v3" xmlns:ns2="dfa3dd06-845f-4d9d-ad43-dffb0e0431f4" xmlns:ns3="88cfc1ee-ce68-4e19-92ee-1cac5e82bb07" targetNamespace="http://schemas.microsoft.com/office/2006/metadata/properties" ma:root="true" ma:fieldsID="0d22e33cf59d7b46a343e42a1854c925" ns1:_="" ns2:_="" ns3:_="">
    <xsd:import namespace="http://schemas.microsoft.com/sharepoint/v3"/>
    <xsd:import namespace="dfa3dd06-845f-4d9d-ad43-dffb0e0431f4"/>
    <xsd:import namespace="88cfc1ee-ce68-4e19-92ee-1cac5e82b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  <xsd:element ref="ns3:SharedWithUsers" minOccurs="0"/>
                <xsd:element ref="ns3:SharedWithDetails" minOccurs="0"/>
                <xsd:element ref="ns2:FolderDescription" minOccurs="0"/>
                <xsd:element ref="ns2:Not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a3dd06-845f-4d9d-ad43-dffb0e0431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612a07e-55f3-48fa-bcb9-cd55a0c1ce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FolderDescription" ma:index="24" nillable="true" ma:displayName="FolderDescription" ma:description="Overview or examples of files in this location" ma:format="Dropdown" ma:internalName="FolderDescription">
      <xsd:simpleType>
        <xsd:restriction base="dms:Text">
          <xsd:maxLength value="255"/>
        </xsd:restriction>
      </xsd:simpleType>
    </xsd:element>
    <xsd:element name="Notes" ma:index="25" nillable="true" ma:displayName="Notes" ma:description="Do not change template, download a copy&#10;" ma:format="Dropdown" ma:internalName="Notes">
      <xsd:simpleType>
        <xsd:restriction base="dms:Text">
          <xsd:maxLength value="255"/>
        </xsd:restrict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fc1ee-ce68-4e19-92ee-1cac5e82bb0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741948a7-1024-4cb8-8d40-92e83e07d9dc}" ma:internalName="TaxCatchAll" ma:showField="CatchAllData" ma:web="88cfc1ee-ce68-4e19-92ee-1cac5e82bb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A24B1F-8AEA-41ED-94EE-8720556C99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1293AD-8DE9-4AAE-8FF5-8439E01C6DA1}">
  <ds:schemaRefs>
    <ds:schemaRef ds:uri="http://purl.org/dc/terms/"/>
    <ds:schemaRef ds:uri="dfa3dd06-845f-4d9d-ad43-dffb0e0431f4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sharepoint/v3"/>
    <ds:schemaRef ds:uri="http://schemas.microsoft.com/office/infopath/2007/PartnerControls"/>
    <ds:schemaRef ds:uri="88cfc1ee-ce68-4e19-92ee-1cac5e82bb0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464127B-A0E3-42F0-9FAB-79E06B14F6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a3dd06-845f-4d9d-ad43-dffb0e0431f4"/>
    <ds:schemaRef ds:uri="88cfc1ee-ce68-4e19-92ee-1cac5e82bb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2034</TotalTime>
  <Words>482</Words>
  <Application>Microsoft Office PowerPoint</Application>
  <PresentationFormat>On-screen Show (4:3)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Cascadia Mono Light</vt:lpstr>
      <vt:lpstr>Cascadia Mono SemiLight</vt:lpstr>
      <vt:lpstr>Consolas</vt:lpstr>
      <vt:lpstr>OCR A Extended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“AAESAP Legacy By The Numbers”</dc:title>
  <dc:creator>Steven Webb</dc:creator>
  <cp:keywords>AAESAP</cp:keywords>
  <cp:lastModifiedBy>Steven Webb</cp:lastModifiedBy>
  <cp:revision>126</cp:revision>
  <dcterms:created xsi:type="dcterms:W3CDTF">2023-03-06T14:14:49Z</dcterms:created>
  <dcterms:modified xsi:type="dcterms:W3CDTF">2025-07-10T18:31:58Z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0x0101002C7430A4B2EF8C4CA3AD840C0842242D</vt:lpwstr>
  </property>
  <property fmtid="{D5CDD505-2E9C-101B-9397-08002B2CF9AE}" pid="3" name="MediaServiceImageTags">
    <vt:lpwstr/>
  </property>
</Properties>
</file>